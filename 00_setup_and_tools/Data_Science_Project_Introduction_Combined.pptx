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011680"/>
            <a:ext cx="8503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19456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Introduction to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96D6"/>
                </a:solidFill>
                <a:latin typeface="Calibri"/>
              </a:defRPr>
            </a:pPr>
            <a:r>
              <a:t>A Unified 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114800"/>
            <a:ext cx="8503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CCCCC"/>
                </a:solidFill>
                <a:latin typeface="Calibri"/>
              </a:defRPr>
            </a:pPr>
            <a:r>
              <a:t>Siamak TalatAhari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COURSE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Intro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Essential skills, DS workflow, supervised vs unsupervised learning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Scoping a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Define scope, stakeholders, data requirements, model features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Installing Jupyter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Anaconda, Jupyter interface, code &amp; markdown cells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26279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80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Gathering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Flat files, Pandas DataFrames, Excel, SQL databases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7784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Cleaning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97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types, missing values, duplicates, outliers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Sorting, filtering, grouping, scatterplots, histograms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42316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Mid-Course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Apply skills learned so far on a real dataset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47472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Preparing for 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94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Numeric non-null table, feature engineering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526279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480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Final Course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8463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End-to-end: gather, clean, explore, prepare for Maven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INTRODUCING THE COURSE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You've just been hired as a Jr.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9572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for Maven Music, a streaming service that's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8833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been losing more customers than usual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8094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wants to use data science to reduce churn.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02920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THE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You'll have access to customer data including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subscription details and music listening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8833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Your goal: prepare this data for analysis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8094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predictive modeling to reduce customer churn.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D6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1.  Scope the data science project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2.  Gather the data in Python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3.  Clean the data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4.  Explore &amp; visualize the data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5.  Prepare the data for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SETTING EXPECTATIONS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8C00"/>
                </a:solidFill>
                <a:latin typeface="Calibri"/>
              </a:defRPr>
            </a:pPr>
            <a:r>
              <a:t>We will NOT apply ML models in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This course focuses on preparing raw data for deeper analysis and modeling. Supervised and unsupervised ML algorithms will be covered in-depth later in this series.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8C00"/>
                </a:solidFill>
                <a:latin typeface="Calibri"/>
              </a:defRPr>
            </a:pPr>
            <a:r>
              <a:t>We'll use Jupyter Notebook as our primary coding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Jupyter Notebook is free, and the industry standard for data analysis with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8C00"/>
                </a:solidFill>
                <a:latin typeface="Calibri"/>
              </a:defRPr>
            </a:pPr>
            <a:r>
              <a:t>You do NOT need to be a Python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We strongly recommend completing the Maven Analytics Data Analysis with Python course first, but prior programming experience is helpful.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675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096D6"/>
                </a:solidFill>
                <a:latin typeface="Calibri"/>
              </a:defRPr>
            </a:pPr>
            <a: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Introduction to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206240"/>
            <a:ext cx="6675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DATA ALL AROUND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CCCCCC"/>
                </a:solidFill>
                <a:latin typeface="Calibri"/>
              </a:defRPr>
            </a:pPr>
            <a:r>
              <a:t>Lots of data is being collected and warehoused</a:t>
            </a:r>
          </a:p>
          <a:p>
            <a:pPr>
              <a:spcBef>
                <a:spcPts val="800"/>
              </a:spcBef>
              <a:defRPr sz="1700">
                <a:solidFill>
                  <a:srgbClr val="CCCCCC"/>
                </a:solidFill>
                <a:latin typeface="Calibri"/>
              </a:defRPr>
            </a:pPr>
            <a:r>
              <a:t>Web data, e-commerce</a:t>
            </a:r>
          </a:p>
          <a:p>
            <a:pPr>
              <a:spcBef>
                <a:spcPts val="800"/>
              </a:spcBef>
              <a:defRPr sz="1700">
                <a:solidFill>
                  <a:srgbClr val="CCCCCC"/>
                </a:solidFill>
                <a:latin typeface="Calibri"/>
              </a:defRPr>
            </a:pPr>
            <a:r>
              <a:t>Financial transactions, bank/credit transactions</a:t>
            </a:r>
          </a:p>
          <a:p>
            <a:pPr>
              <a:spcBef>
                <a:spcPts val="800"/>
              </a:spcBef>
              <a:defRPr sz="1700">
                <a:solidFill>
                  <a:srgbClr val="CCCCCC"/>
                </a:solidFill>
                <a:latin typeface="Calibri"/>
              </a:defRPr>
            </a:pPr>
            <a:r>
              <a:t>Online trading and purchasing</a:t>
            </a:r>
          </a:p>
          <a:p>
            <a:pPr>
              <a:spcBef>
                <a:spcPts val="800"/>
              </a:spcBef>
              <a:defRPr sz="1700">
                <a:solidFill>
                  <a:srgbClr val="CCCCCC"/>
                </a:solidFill>
                <a:latin typeface="Calibri"/>
              </a:defRPr>
            </a:pPr>
            <a:r>
              <a:t>Social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D6"/>
                </a:solidFill>
                <a:latin typeface="Calibri"/>
              </a:defRPr>
            </a:pPr>
            <a:r>
              <a:t>How Much Data Do We Have?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Google processes 20 PB per day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Facebook generates 60 TB of daily logs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eBay has 6.5 PB of user data + 50 TB/day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1000 Genomes Project: 200 TB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Cost of 1 TB of disk: ~$35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Time to read 1 TB: ~3 hours (100 MB/s)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BIG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Big Data is any data that is expensive to manage and hard to extract value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0040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96D6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The sheer size of the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320040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B48A"/>
                </a:solidFill>
                <a:latin typeface="Calibri"/>
              </a:defRPr>
            </a:pPr>
            <a:r>
              <a:t>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The speed of data processing</a:t>
            </a:r>
            <a:br/>
            <a:r>
              <a:t>relative to growing demand</a:t>
            </a:r>
            <a:br/>
            <a:r>
              <a:t>for interactivity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20040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8C00"/>
                </a:solidFill>
                <a:latin typeface="Calibri"/>
              </a:defRPr>
            </a:pPr>
            <a:r>
              <a:t>Variety &amp;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34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The diversity of sources,</a:t>
            </a:r>
            <a:br/>
            <a:r>
              <a:t>formats, quality,</a:t>
            </a:r>
            <a:br/>
            <a:r>
              <a:t>and structures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TYPES OF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Relational Data (Tables / Transactions / Legacy)</a:t>
            </a:r>
          </a:p>
          <a:p>
            <a:pPr>
              <a:spcBef>
                <a:spcPts val="8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Text Data (Web)</a:t>
            </a:r>
          </a:p>
          <a:p>
            <a:pPr>
              <a:spcBef>
                <a:spcPts val="8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Semi-structured Data (XML, JSON)</a:t>
            </a:r>
          </a:p>
          <a:p>
            <a:pPr>
              <a:spcBef>
                <a:spcPts val="8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Graph Data (Social Networks, Semantic Web)</a:t>
            </a:r>
          </a:p>
          <a:p>
            <a:pPr>
              <a:spcBef>
                <a:spcPts val="8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Streaming Data (scan once)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D6"/>
                </a:solidFill>
                <a:latin typeface="Calibri"/>
              </a:defRPr>
            </a:pPr>
            <a:r>
              <a:t>What To Do With These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9202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Aggregation and Statistics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Data Warehousing and OLAP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Indexing, Searching, Querying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Pattern Matching (XML/RDF)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Knowledge Discovery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Data Mining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Statistical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WHAT IS DATA SCIENCE?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96D6"/>
                </a:solidFill>
                <a:latin typeface="Calibri"/>
              </a:defRPr>
            </a:pPr>
            <a:r>
              <a:t>Data science is about using data to make smart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An area that manages, manipulates, extracts, and interprets knowledge from tremendous amounts of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A multidisciplinary field addressing the challenges in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Data science principles apply to all data -- big and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Key Disciplines Involved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96D6"/>
                </a:solidFill>
                <a:latin typeface="Calibri"/>
              </a:defRPr>
            </a:pPr>
            <a:r>
              <a:t>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Pattern recognition, visualization, data warehousing, HPC, databases,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96D6"/>
                </a:solidFill>
                <a:latin typeface="Calibri"/>
              </a:defRPr>
            </a:pPr>
            <a:r>
              <a:t>Mathematics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Mathematical and statistical modeling,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96D6"/>
                </a:solidFill>
                <a:latin typeface="Calibri"/>
              </a:defRPr>
            </a:pPr>
            <a:r>
              <a:t>Domain Expertise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Industry-specific knowledge to frame and interpret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DATA SCIENCE SKILL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Data science requires a blend of coding, math, and domain expertise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2103120"/>
            <a:ext cx="2011680" cy="2011680"/>
          </a:xfrm>
          <a:prstGeom prst="ellipse">
            <a:avLst/>
          </a:prstGeom>
          <a:solidFill>
            <a:srgbClr val="22223E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D6"/>
                </a:solidFill>
              </a:defRPr>
            </a:pPr>
            <a:r>
              <a:t>Coding</a:t>
            </a:r>
          </a:p>
        </p:txBody>
      </p:sp>
      <p:sp>
        <p:nvSpPr>
          <p:cNvPr id="6" name="Oval 5"/>
          <p:cNvSpPr/>
          <p:nvPr/>
        </p:nvSpPr>
        <p:spPr>
          <a:xfrm>
            <a:off x="5303520" y="2103120"/>
            <a:ext cx="2011680" cy="2011680"/>
          </a:xfrm>
          <a:prstGeom prst="ellipse">
            <a:avLst/>
          </a:prstGeom>
          <a:solidFill>
            <a:srgbClr val="22223E"/>
          </a:solidFill>
          <a:ln w="3810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B48A"/>
                </a:solidFill>
              </a:defRPr>
            </a:pPr>
            <a:r>
              <a:t>Math &amp;</a:t>
            </a:r>
            <a:br/>
            <a:r>
              <a:t>Statistics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2103120"/>
            <a:ext cx="2011680" cy="2011680"/>
          </a:xfrm>
          <a:prstGeom prst="ellipse">
            <a:avLst/>
          </a:prstGeom>
          <a:solidFill>
            <a:srgbClr val="22223E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Domain</a:t>
            </a:r>
            <a:br/>
            <a:r>
              <a:t>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Essential Soft Skills: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Communication  |  Problem Solving  |  Curiosity &amp; Creativity  |  Grit  |  Research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99999"/>
                </a:solidFill>
                <a:latin typeface="Calibri"/>
              </a:defRPr>
            </a:pPr>
            <a:r>
              <a:t>Data scientists &amp; analysts approach problem solving in similar ways, but data scientists work with larger, more complex data sets and use advanced algorithms.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WHAT IS MACHINE LEARNING?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96D6"/>
                </a:solidFill>
                <a:latin typeface="Calibri"/>
              </a:defRPr>
            </a:pPr>
            <a:r>
              <a:t>Machine learning enables computers to learn and make decisions from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How can a computer learn?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By using algorithms -- a set of instructions for a computer to follow.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How does this compare with data science?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69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Data scientists know how to apply algorithms, meaning they can tell a computer how to learn from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SUPERVISED VS. 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Calibri"/>
              </a:defRPr>
            </a:pPr>
            <a:r>
              <a:t>Machine learning algorithms fall into two broad categories: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36576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96D6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Using historical data to predict the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What will house prices look like for the next 12 months?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How can I flag suspicious emails as spam?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029200" cy="36576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B48A"/>
                </a:solidFill>
                <a:latin typeface="Calibri"/>
              </a:defRPr>
            </a:pPr>
            <a:r>
              <a:t>Unsupervised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Finding patterns and relationships in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175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How can I segment my customers?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Which TV shows should I recommend to each user?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COMMON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2004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The most common machine learning algorithms data scientists use in practice: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D6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KNN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Logistic Regression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Tree-Based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Linear Regression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Regularized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Time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B48A"/>
                </a:solidFill>
                <a:latin typeface="Calibri"/>
              </a:defRPr>
            </a:pPr>
            <a:r>
              <a:t>Unsupervised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K-Means Clustering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Hierarchical Clustering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Anomaly Detection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Matrix Factorization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Principal Components Analysis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Recommender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99999"/>
                </a:solidFill>
                <a:latin typeface="Calibri"/>
              </a:defRPr>
            </a:pPr>
            <a:r>
              <a:t>Reinforcement learning (robotics, gaming) and deep learning (neural networks, NLP) are additional categories covered in advanced courses.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TYPES OF DATA SCIENCE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200400"/>
                <a:gridCol w="347472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Algorithms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Predict class membership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Decision Trees, Neural Nets,</a:t>
                      </a:r>
                    </a:p>
                    <a:p>
                      <a:r>
                        <a:t>KNN, Bayesian models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Assigning voters to political</a:t>
                      </a:r>
                    </a:p>
                    <a:p>
                      <a:r>
                        <a:t>party buckets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Predict a numeric value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Linear Regression,</a:t>
                      </a:r>
                    </a:p>
                    <a:p>
                      <a:r>
                        <a:t>Logistic Regression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Predicting unemployment</a:t>
                      </a:r>
                    </a:p>
                    <a:p>
                      <a:r>
                        <a:t>rate, insurance premiums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Identify outliers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Distance-based,</a:t>
                      </a:r>
                    </a:p>
                    <a:p>
                      <a:r>
                        <a:t>Density-based, LOF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Fraud detection,</a:t>
                      </a:r>
                    </a:p>
                    <a:p>
                      <a:r>
                        <a:t>network intrusion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Time Series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Forecast future values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ARIMA, Exponential</a:t>
                      </a:r>
                    </a:p>
                    <a:p>
                      <a:r>
                        <a:t>Smoothing, Regression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Sales forecasting,</a:t>
                      </a:r>
                    </a:p>
                    <a:p>
                      <a:r>
                        <a:t>production planning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Clustering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Find natural groupings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K-Means, DBSCAN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Customer segmentation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Association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Find item relationships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FP Growth, Apriori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Cross-selling</a:t>
                      </a:r>
                    </a:p>
                    <a:p>
                      <a:r>
                        <a:t>opportunities</a:t>
                      </a:r>
                    </a:p>
                  </a:txBody>
                  <a:tcPr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CONCENTRATION IN DATA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Mathematics and Applied Mathematics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Applied Statistics / Data Analysis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Solid Programming Skills (R, Python, Julia, SQL)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Data Mining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Database Storage and Management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Machine Learning and Discovery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DATA SCIENCE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The data science workflow consists of scoping, gathering, cleaning, exploring, modeling, and sharing insights. This is not a linear process!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2011680"/>
            <a:ext cx="914400" cy="9144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96D6"/>
                </a:solidFill>
                <a:latin typeface="Calibri"/>
              </a:defRPr>
            </a:pPr>
            <a:r>
              <a:t>Scoping</a:t>
            </a:r>
            <a:br/>
            <a:r>
              <a:t>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8" name="Oval 7"/>
          <p:cNvSpPr/>
          <p:nvPr/>
        </p:nvSpPr>
        <p:spPr>
          <a:xfrm>
            <a:off x="3063239" y="2011680"/>
            <a:ext cx="914400" cy="91440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B48A"/>
                </a:solidFill>
                <a:latin typeface="Calibri"/>
              </a:defRPr>
            </a:pPr>
            <a:r>
              <a:t>Gathering</a:t>
            </a:r>
            <a:br/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Oval 10"/>
          <p:cNvSpPr/>
          <p:nvPr/>
        </p:nvSpPr>
        <p:spPr>
          <a:xfrm>
            <a:off x="4937759" y="201168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8C00"/>
                </a:solidFill>
                <a:latin typeface="Calibri"/>
              </a:defRPr>
            </a:pPr>
            <a:r>
              <a:t>Cleaning</a:t>
            </a:r>
            <a:br/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Oval 13"/>
          <p:cNvSpPr/>
          <p:nvPr/>
        </p:nvSpPr>
        <p:spPr>
          <a:xfrm>
            <a:off x="6812279" y="2011680"/>
            <a:ext cx="914400" cy="914400"/>
          </a:xfrm>
          <a:prstGeom prst="ellipse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AA66FF"/>
                </a:solidFill>
                <a:latin typeface="Calibri"/>
              </a:defRPr>
            </a:pPr>
            <a:r>
              <a:t>Exploring</a:t>
            </a:r>
            <a:br/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2011680"/>
            <a:ext cx="914400" cy="914400"/>
          </a:xfrm>
          <a:prstGeom prst="ellipse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5577"/>
                </a:solidFill>
                <a:latin typeface="Calibri"/>
              </a:defRPr>
            </a:pPr>
            <a:r>
              <a:t>Modeling</a:t>
            </a:r>
            <a:br/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2011680"/>
            <a:ext cx="914400" cy="914400"/>
          </a:xfrm>
          <a:prstGeom prst="ellipse">
            <a:avLst/>
          </a:prstGeom>
          <a:solidFill>
            <a:srgbClr val="66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6BB66"/>
                </a:solidFill>
                <a:latin typeface="Calibri"/>
              </a:defRPr>
            </a:pPr>
            <a:r>
              <a:t>Sharing</a:t>
            </a:r>
            <a:br/>
            <a:r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99999"/>
                </a:solidFill>
                <a:latin typeface="Calibri"/>
              </a:defRPr>
            </a:pPr>
            <a:r>
              <a:t>You'll likely iterate -- going back to further gather, clean, and explore your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WORKFLOW: SCOPING, GATHERING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34747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Step 1: Scoping 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Projects start with a clearly defined scope: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Who are your end users?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What problems are you solving?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Supervised or unsupervised?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What data do you need?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34747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Step 2: Gathering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The foundation of your analysis: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Files (flat files, spreadsheets)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95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Websites &amp;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8211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Web scraping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566160" cy="34747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Step 3: Cleaning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50-80% of a data scientist's time: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Correcting data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Imputing missing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895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Dealing with inconsistencies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18211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Reformatting the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WORKFLOW: EXPLORING, MODELING &amp; SHARING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34747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Step 4: Exploring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EDA: understanding your data: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Sorting, filtering, grouping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Calculate summary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Visualize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Identify trends &amp;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34747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Step 5: Modeling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The 'flashy' part of DS: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Select appropriate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Train and evaluate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95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Tune hyperparameters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8211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Validate with test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566160" cy="34747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Step 6: Sharing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Communicate your findings: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Dashboards &amp;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Visualizations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895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Actionable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18211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 Present to stakeholders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675120" cy="508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0B48A"/>
                </a:solidFill>
                <a:latin typeface="Calibri"/>
              </a:defRPr>
            </a:pPr>
            <a: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Scoping a Data Science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206240"/>
            <a:ext cx="6675120" cy="508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SCOPING A DATA SCIENCE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Every project begins with a clearly defined scope -- not with data.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Think about end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Who will consume your analysis?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Brainstorm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What questions are you trying to answer?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Determine data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47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What data do you need? Supervised or unsupervised?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011680"/>
            <a:ext cx="411480" cy="41148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Define model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What variables/features will your model use?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3383280"/>
            <a:ext cx="411480" cy="41148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Identify data sources &amp;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Where will the data come from? What time range?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754880"/>
            <a:ext cx="411480" cy="41148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Summarize the project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5047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Document everything before writing any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WHERE DOES DATA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D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Internal: business databases, operational records, experimental data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External: public government databases, stock market, Yelp reviews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Collect your own: surveys, experiments (beyond this course)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Online: APIs (Google Maps, Facebook, Twitter), web scraping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8C00"/>
                </a:solidFill>
                <a:latin typeface="Calibri"/>
              </a:defRPr>
            </a:pPr>
            <a:r>
              <a:t>Data Is (Always) Messy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Missing values: how do we fill in?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Wrong values: how can we detect and correct?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Messy format/representation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Variables stored in both rows and columns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Multiple features stored in one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058400" cy="1371600"/>
          </a:xfrm>
          <a:prstGeom prst="roundRect">
            <a:avLst/>
          </a:prstGeom>
          <a:solidFill>
            <a:srgbClr val="33220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8C00"/>
                </a:solidFill>
                <a:latin typeface="Calibri"/>
              </a:defRPr>
            </a:pPr>
            <a:r>
              <a:t>CAUTION: Not all accessible data is good to use!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Are you violating their terms of service?  |  Privacy concerns?  |  Are they willing to share?  |  Bypassing an API or fee?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DATA PRE-PROCESSING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Goal: Bring data into a format we can use for analysis and/or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058400" cy="7315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Parsing &amp;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488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Convert raw data into structured, usable formats (e.g. 2D arrays for Python)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7315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632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Assess data amount and quality before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10058400" cy="7315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9776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Handle missing values, duplicates, incorrect 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46320"/>
            <a:ext cx="10058400" cy="7315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92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Create new features, transform variables, encode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Key concepts: data points vs features/variables  |  detect outliers  |  feature engineering  |  dimensionality reduction  |  normalization  |  training/test split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INDUSTRY STANDARD PROCESSES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CRISP-DM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1. Business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2. Data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3. 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4. Modeling (using algorithms)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5. Evaluation (performance testing)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6.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673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05993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Training Data -&gt; Model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525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Test Data -&gt; Model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451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-&gt; Knowledge and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03520" cy="4114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KDD Process (Knowledge Discovery in Databases)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1. Prior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04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2. 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968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3.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950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4.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8211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5.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92240" y="37673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Both frameworks follow the same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5993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pattern: understand -&gt; prepare 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525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model -&gt; evaluate -&gt; deploy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6751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8C00"/>
                </a:solidFill>
                <a:latin typeface="Calibri"/>
              </a:defRPr>
            </a:pPr>
            <a: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Getting Started with Jupyter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206240"/>
            <a:ext cx="66751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WHY PYTHON?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Free and open source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Huge community of developers and data scientists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Rich ecosystem: NumPy, Pandas, Scikit-Learn, TensorFlow, PyTorch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Readable syntax -- close to natural language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Industry standard for data science and machine learning</a:t>
            </a:r>
          </a:p>
          <a:p>
            <a:pPr>
              <a:spcBef>
                <a:spcPts val="1400"/>
              </a:spcBef>
              <a:defRPr sz="1800">
                <a:solidFill>
                  <a:srgbClr val="CCCCCC"/>
                </a:solidFill>
                <a:latin typeface="Calibri"/>
              </a:defRPr>
            </a:pPr>
            <a:r>
              <a:t>Used by Google, Netflix, Meta, NASA, and thousands more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INSTALLING JUPYTER NOTEBOOK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Calibri"/>
              </a:defRPr>
            </a:pPr>
            <a:r>
              <a:t>We'll use Anaconda, which includes Python, Jupyter, and 250+ data science packages.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1. Download Anaconda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Visit anaconda.com and download for your OS (Mac or PC)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2. 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Follow the installer -- accept defaults, no need for PyCharm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3. Launch Jupyter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Open Anaconda Navigator and click 'Launch' under Jupyter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4. Navigate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Jupyter opens in your browser -- navigate to your working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5. Create a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Click 'New' -&gt; 'Python 3' to create your first notebook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JUPYTER NOTEBOOK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Two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Edit Mode (green border): type inside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Command Mode (blue border): navigate between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Press Enter for Edit, Esc for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Press H for keyboard shortcuts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Cell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Code cells: write and run Python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04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Markdown cells: formatted text, headers,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968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Switch with Y (code) or M (markdown) in Command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950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Run any cell with Shift + 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Helpful Features: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Tab completion: press Tab to autocomplete function names and variables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Shift + Tab: view function documentation inline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Use # for comments in code cells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Toolbar: Save, Insert Cell, Run, Cell Type dropdown, Kernel options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Menu: File (save/export), Edit (cut/copy cells), Kernel (restart/run all)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Using data to make smart decisions -- requires coding, math, and domain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Two categories: supervised (predict from history) and unsupervised (find patterns)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DS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Scope -&gt; Gather -&gt; Clean -&gt; Explore -&gt; Model -&gt; Share (iterative, not 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Scoping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Start with end users and business problems, not with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Data is always messy -- 50-80% of time is spent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Python + Jupyter Notebook = industry standard for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D6"/>
                </a:solidFill>
                <a:latin typeface="Calibri"/>
              </a:defRPr>
            </a:pPr>
            <a:r>
              <a:t>This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63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Focuses on preparing data; ML modeling comes in later courses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6675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Ready to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0096D6"/>
                </a:solidFill>
                <a:latin typeface="Calibri"/>
              </a:defRPr>
            </a:pPr>
            <a:r>
              <a:t>Next: Scoping the Maven Music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206240"/>
            <a:ext cx="6675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Siamak TalatAhari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